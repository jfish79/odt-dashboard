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008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159DB9-AE28-052D-EACA-F854DAEAC9E7}" name="Clark, Beth" initials="BC" userId="S::bclark@nrel.gov::6f3266a4-158e-40d0-912b-0a94cb5e73d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ynn Schroed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0075BB"/>
    <a:srgbClr val="CCCCCC"/>
    <a:srgbClr val="E1E1E1"/>
    <a:srgbClr val="EFEFEF"/>
    <a:srgbClr val="C0C0C0"/>
    <a:srgbClr val="B5B5B5"/>
    <a:srgbClr val="CDCDCD"/>
    <a:srgbClr val="32416B"/>
    <a:srgbClr val="394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58"/>
  </p:normalViewPr>
  <p:slideViewPr>
    <p:cSldViewPr snapToGrid="0">
      <p:cViewPr varScale="1">
        <p:scale>
          <a:sx n="152" d="100"/>
          <a:sy n="152" d="100"/>
        </p:scale>
        <p:origin x="324" y="138"/>
      </p:cViewPr>
      <p:guideLst>
        <p:guide pos="100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48"/>
    </p:cViewPr>
  </p:sorterViewPr>
  <p:notesViewPr>
    <p:cSldViewPr snapToGrid="0">
      <p:cViewPr>
        <p:scale>
          <a:sx n="1" d="2"/>
          <a:sy n="1" d="2"/>
        </p:scale>
        <p:origin x="4085" y="1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systems with a value (%)</c:v>
                </c:pt>
              </c:strCache>
            </c:strRef>
          </c:tx>
          <c:spPr>
            <a:solidFill>
              <a:srgbClr val="0075BB"/>
            </a:solidFill>
          </c:spPr>
          <c:cat>
            <c:strRef>
              <c:f>Sheet1!$A$2:$A$11</c:f>
              <c:strCache>
                <c:ptCount val="10"/>
                <c:pt idx="0">
                  <c:v>Vehicle count</c:v>
                </c:pt>
                <c:pt idx="1">
                  <c:v>Fleet description</c:v>
                </c:pt>
                <c:pt idx="2">
                  <c:v>Technology vendor</c:v>
                </c:pt>
                <c:pt idx="3">
                  <c:v>Launch year</c:v>
                </c:pt>
                <c:pt idx="4">
                  <c:v>Funding source</c:v>
                </c:pt>
                <c:pt idx="5">
                  <c:v>Service hours</c:v>
                </c:pt>
                <c:pt idx="6">
                  <c:v>Fare</c:v>
                </c:pt>
                <c:pt idx="7">
                  <c:v>Website</c:v>
                </c:pt>
                <c:pt idx="8">
                  <c:v>Scheduling window</c:v>
                </c:pt>
                <c:pt idx="9">
                  <c:v>Booking method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42</c:v>
                </c:pt>
                <c:pt idx="2">
                  <c:v>54</c:v>
                </c:pt>
                <c:pt idx="3">
                  <c:v>57</c:v>
                </c:pt>
                <c:pt idx="4">
                  <c:v>59</c:v>
                </c:pt>
                <c:pt idx="5">
                  <c:v>69</c:v>
                </c:pt>
                <c:pt idx="6">
                  <c:v>81</c:v>
                </c:pt>
                <c:pt idx="7">
                  <c:v>87</c:v>
                </c:pt>
                <c:pt idx="8">
                  <c:v>93</c:v>
                </c:pt>
                <c:pt idx="9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>
                  <a:solidFill>
                    <a:srgbClr val="1F1F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A4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62C283-8B25-4E99-BA37-A6FD5B90B6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31EE5-5610-40A4-B840-CD2FB1E64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BFBF5-9F8A-40B1-88F4-AFAE0BF032A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C3F4-5B46-4B42-A455-56E0CC4F70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9E3E9-4AB4-4B8E-B9D1-E9F9AFC4E5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C656-0990-4576-BC00-328E448F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FED6-1CE0-9E49-8E28-4BC1AFD39CD7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85793-58F2-5D45-93FF-B0076DA99FD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338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framing: a research inventory, not an official registry. It exists because no national list of general-public, same-day on-demand transit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1,063 number is worth pausing on: every removal, correction and unverified field has a written entry with a citation. That log is the audit trail for the whole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rural county dial-a-ride that takes same-day calls is Demand-Response; a Via-powered app service is Microtransit. Full definitions and valid values are on the dashboard Reference tab and in legend.csv.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August ruling was the "spirit of the rule": the test is same-day capability, not a literal hour count. A "call by 4:30pm the day before" policy is out even though that can be under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was not monotonic. Two-thirds of the work after July was verification and removal, not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verify-before-removal rule came from a real mistake: a bulk-imported Arizona row described a service as senior-only; the city's own page showed a general-public TNC-subsidy program with same-day booking.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Virginia DRPT toolkit example: one PDF had real vehicle specs for two FTA-funded pilots that no news coverage 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 that agents also made mistakes: one batch misread the advance-booking rule and included seven Texas systems it should have flagged; that is what prompted the explicit policy ruling. The process is designed so mistakes are logged and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421 polygons are exact administrative units, 238 are labeled approximate. A county polygon for a county-wide dial-a-ride is accurate; a circle for "about 12 square miles" shows scale, not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 lengths are the share of rows with any value, not the share verified. Fare is 81% present, but about a fifth of those are "same as bus fare" or "varies" rather than a dollar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"how confident are you overall": high for existence and general-public status of each row; moderate for scheduling policy on the rural demand-response rows; low for fleet and vendor details on bulk-imported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calls most likely to be questioned by a transit audience. Each was made once, written down, and applied uniformly, which matters more than whether every reviewer would make the same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demoing live: start on the Map with Geographic Context coloring, select one state to show polygons, play the growth slider, then switch to Analytics to show the charts follow the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invitation: corrections from agencies are the fastest way to raise confidence on the rural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6F0A1-CB8B-EC2C-BA35-69FD40B9E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111654"/>
            <a:ext cx="4496935" cy="920191"/>
          </a:xfrm>
          <a:prstGeom prst="rect">
            <a:avLst/>
          </a:prstGeom>
        </p:spPr>
        <p:txBody>
          <a:bodyPr bIns="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0536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3736972" y="1365809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6379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5E4D7D4-E40E-AFC7-6997-7ECCA3FB9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536699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8729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3736972" y="1293238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20959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03664-F9BC-6430-82A9-527CA31AB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497708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4832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313919"/>
            <a:ext cx="5991907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3453" y="329992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4C7490C-E4E8-A92E-B860-C80E8619E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1" y="1349654"/>
            <a:ext cx="5991907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1578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276749"/>
            <a:ext cx="5984649" cy="824860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8468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BE9BA3-0A91-8BD6-EE9C-8B6D43919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2" y="1349654"/>
            <a:ext cx="598464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7355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029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467454" y="4830962"/>
            <a:ext cx="3379927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3736972" y="1497532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5955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53D79BC-0DE6-4715-D3EC-9646E1CD2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667896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8972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467454" y="4830962"/>
            <a:ext cx="2839338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3736972" y="2181895"/>
            <a:ext cx="5407028" cy="2110362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317050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A60DFAC-2F80-284C-62E9-8383FC6A6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386365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37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0300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467454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3736972" y="2434937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540356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FF7A0BC-C237-67D8-E74E-0D2F620BD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611471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374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4" y="3046183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85064" y="0"/>
            <a:ext cx="3858936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567207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83551F-AABC-6EF1-032D-22E6AEBD6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044" y="2080666"/>
            <a:ext cx="4496935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39143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2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6711702" y="4840514"/>
            <a:ext cx="22795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5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305380-DFD5-07AB-CD90-D29D63B6F30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D0201A-9396-B2CD-9366-853DA3A88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49512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E12AA5-9C4E-55BC-750F-AECB42D6BD2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2E0FA8-08AE-655A-CADD-96B5C04E1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707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66804-445E-D222-C035-80496AFF621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9BA9307-901C-41BA-431E-B5D7E476C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869723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8500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25243-AFF8-CA66-42ED-B0874ADB0E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67F2DD-CC0E-9A8C-11B9-4AB04B07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9411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08251-99D2-8650-ACEF-FAA7CEDFBFA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55A73BCC-7C77-ED51-CDDB-BCA14EB0D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98210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2A2C5F-CDE0-6BB8-6E35-F669154D503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702C34-550B-FC0D-BE6A-D64619DE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811229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EDF3F-AEE8-23DF-D9AB-E5ECAF60F1D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5F108D-D957-340C-CD8D-EE49448FE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6269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19223-D2CF-449A-554E-9338F3140A6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B1B414-DD67-0152-95D7-310B816F1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36786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43FF4-29A1-7FCF-2469-127278E01EDD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6AD35-88FC-B503-10AF-AC3C42219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771149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074738"/>
            <a:ext cx="5149780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52392" y="1147842"/>
            <a:ext cx="2734407" cy="318045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F3620F7-CA2F-81A4-5E9F-BB95218A8E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53125" y="4540250"/>
            <a:ext cx="2533650" cy="207963"/>
          </a:xfrm>
        </p:spPr>
        <p:txBody>
          <a:bodyPr vert="horz" lIns="0" tIns="0" rIns="0" bIns="0" rtlCol="0">
            <a:normAutofit/>
          </a:bodyPr>
          <a:lstStyle>
            <a:lvl1pPr>
              <a:buNone/>
              <a:defRPr lang="en-US" sz="600" i="1" smtClean="0">
                <a:solidFill>
                  <a:srgbClr val="CBCBCB"/>
                </a:solidFill>
              </a:defRPr>
            </a:lvl1pPr>
            <a:lvl2pPr>
              <a:defRPr lang="en-US" sz="600" i="1" smtClean="0">
                <a:solidFill>
                  <a:srgbClr val="CBCBCB"/>
                </a:solidFill>
              </a:defRPr>
            </a:lvl2pPr>
            <a:lvl3pPr>
              <a:defRPr lang="en-US" sz="600" i="1" smtClean="0">
                <a:solidFill>
                  <a:srgbClr val="CBCBCB"/>
                </a:solidFill>
              </a:defRPr>
            </a:lvl3pPr>
            <a:lvl4pPr>
              <a:defRPr lang="en-US" sz="600" i="1" smtClean="0">
                <a:solidFill>
                  <a:srgbClr val="CBCBCB"/>
                </a:solidFill>
              </a:defRPr>
            </a:lvl4pPr>
            <a:lvl5pPr>
              <a:defRPr lang="en-US" sz="600" i="1">
                <a:solidFill>
                  <a:srgbClr val="CBCBCB"/>
                </a:solidFill>
              </a:defRPr>
            </a:lvl5pPr>
          </a:lstStyle>
          <a:p>
            <a:pPr marL="219456" lvl="0" indent="-219456"/>
            <a:r>
              <a:rPr lang="en-US" dirty="0"/>
              <a:t>Photo/image credit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2C70-F8D1-FA45-649F-7232BEB9CA1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9129A2-F737-6639-2645-8FF7B1D95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0005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385911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129" y="1047749"/>
            <a:ext cx="6405563" cy="755929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01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71892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0676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A96F-4C15-0F91-208B-5236FE7313A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633EE29-3B6D-95AE-E03F-8068D635E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409819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612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504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765432" y="1089327"/>
            <a:ext cx="3921368" cy="1852652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00" y="1029207"/>
            <a:ext cx="4099727" cy="18741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5962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38850" y="4657325"/>
            <a:ext cx="2647950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CE38D407-F19B-0194-3A21-6222D789EF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541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10539-30F3-4137-FEBE-C4A450C015E6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E129E260-2FA4-8CA1-7FBA-E732A566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98859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374650"/>
            <a:ext cx="3964404" cy="4429579"/>
          </a:xfrm>
        </p:spPr>
        <p:txBody>
          <a:bodyPr>
            <a:normAutofit/>
          </a:bodyPr>
          <a:lstStyle>
            <a:lvl1pPr indent="-2286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8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35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8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4185410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25151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859836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5584166" y="113293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89580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 dirty="0"/>
              <a:t>Insert large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0973F-DA58-ECB7-8A31-C6E36A068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lIns="91440" rIns="91440"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329997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779DF-0425-5F03-2ABE-0DCC89EF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86756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92DF99-1181-7C7A-8E4B-659899B4B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rgbClr val="EEEEEE"/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316403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468313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696359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4765926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261805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8288" y="413132"/>
            <a:ext cx="4768850" cy="128632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2176" y="3652838"/>
            <a:ext cx="1903413" cy="68262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3073" y="3652838"/>
            <a:ext cx="1898650" cy="6889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78655" y="3652838"/>
            <a:ext cx="1893888" cy="71278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962775" y="3652838"/>
            <a:ext cx="1884799" cy="7286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5148D-CC96-6B66-D719-8F5FFA944BE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0">
            <a:extLst>
              <a:ext uri="{FF2B5EF4-FFF2-40B4-BE49-F238E27FC236}">
                <a16:creationId xmlns:a16="http://schemas.microsoft.com/office/drawing/2014/main" id="{A0690749-C1C1-E3D1-F321-AA9565DBA9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Data Slide: Keep </a:t>
            </a:r>
            <a:br>
              <a:rPr lang="en-US" dirty="0"/>
            </a:br>
            <a:r>
              <a:rPr lang="en-US" dirty="0"/>
              <a:t>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8268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2561212"/>
            <a:ext cx="9144000" cy="198312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00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490683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239612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3926034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5675688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336601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81562"/>
            <a:ext cx="1645125" cy="1138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733660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733660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565565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565566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393114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393114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19486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19487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389856"/>
            <a:ext cx="1336675" cy="3265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4" y="3793136"/>
            <a:ext cx="1336674" cy="5706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4C71E-9E5F-4F4F-7AEF-CBB480B619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FF005CC3-0EB6-6C47-48C5-0A781A3D8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Messaging + Blue 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1300249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7257" y="883"/>
            <a:ext cx="9144000" cy="2682875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1A5A8C-3602-598A-D6BE-C1EEEA31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082799"/>
            <a:ext cx="4494809" cy="600959"/>
          </a:xfrm>
          <a:prstGeom prst="round1Rect">
            <a:avLst/>
          </a:prstGeom>
          <a:solidFill>
            <a:schemeClr val="tx2"/>
          </a:solidFill>
        </p:spPr>
        <p:txBody>
          <a:bodyPr lIns="274320" anchor="ctr"/>
          <a:lstStyle>
            <a:lvl1pPr algn="l">
              <a:defRPr sz="25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664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78872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311525" cy="1510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76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5163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0" y="0"/>
            <a:ext cx="9144000" cy="3205163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31029" cy="111034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63C524-155C-BBFE-66FC-89BCF27678A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105535" y="3536242"/>
            <a:ext cx="4661648" cy="130427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1706B6F-85EE-58E7-0392-254E970543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7050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320444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6644" y="582856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104751" y="3521598"/>
            <a:ext cx="4581144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05BC830-7436-B3FC-AA6B-21AC73B889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9590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25" y="3542887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41945" y="583981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104751" y="3521862"/>
            <a:ext cx="4224528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7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415261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4958" y="582612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55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4959" y="582613"/>
            <a:ext cx="4663440" cy="2286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343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37" y="515649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1737" y="2941154"/>
            <a:ext cx="2560320" cy="19487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FBC13C3-7C60-BE34-38A2-C36952BFF67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65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0752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347" y="0"/>
            <a:ext cx="7644653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59" y="477398"/>
            <a:ext cx="1098047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CB8336F-32E4-611C-10C3-4649525F21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41158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6663083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660" y="4886727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331267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3226702" y="0"/>
            <a:ext cx="591729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5" y="508393"/>
            <a:ext cx="5056632" cy="218734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401968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499614" y="0"/>
            <a:ext cx="7644385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42061" y="478193"/>
            <a:ext cx="4600383" cy="2944368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6" y="477398"/>
            <a:ext cx="1093575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994318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749807" y="0"/>
            <a:ext cx="8394193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198125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7" y="508393"/>
            <a:ext cx="5057683" cy="218231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71999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37037" y="501506"/>
            <a:ext cx="4605407" cy="294507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80" y="477405"/>
            <a:ext cx="1093572" cy="219888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5661488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5013523" cy="335797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2746531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30423" y="2572134"/>
            <a:ext cx="5913577" cy="2571366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72233" y="2933144"/>
            <a:ext cx="2560320" cy="19430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577197" y="2355711"/>
            <a:ext cx="2624820" cy="16140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27906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497012" y="2574036"/>
            <a:ext cx="7646987" cy="2569464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615" y="0"/>
            <a:ext cx="7644385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2"/>
            <a:ext cx="1093572" cy="208476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89374" y="2315482"/>
            <a:ext cx="2404939" cy="161437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783416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3578" y="2572379"/>
            <a:ext cx="8400422" cy="257112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40574" y="2323167"/>
            <a:ext cx="1936049" cy="15512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684190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27832" y="2566988"/>
            <a:ext cx="5916168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593948" y="560883"/>
            <a:ext cx="4886861" cy="162463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72234" y="2938517"/>
            <a:ext cx="2560320" cy="19385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64206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497204" y="2566988"/>
            <a:ext cx="7646796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862198" y="513990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1"/>
            <a:ext cx="1099751" cy="210707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76703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43578" y="2571751"/>
            <a:ext cx="8400422" cy="257175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100569" y="515665"/>
            <a:ext cx="4501387" cy="1800480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50106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1391881"/>
            <a:ext cx="4123076" cy="2216292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4825308" y="182880"/>
            <a:ext cx="3871998" cy="1835390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4825308" y="2479946"/>
            <a:ext cx="3871998" cy="195201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7200" y="4027648"/>
            <a:ext cx="4122738" cy="72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826000" y="2086495"/>
            <a:ext cx="3871913" cy="21538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826000" y="4497388"/>
            <a:ext cx="3871913" cy="2555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BB907DC-C079-0123-DD1A-323F021F5BF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3659280"/>
            <a:ext cx="4122738" cy="3031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6C6DF-5712-3B83-D9C6-A3F190933DF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0CB0A2CE-6867-0AF8-FC16-F279FFB8F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579382" cy="1139377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1828242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59281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59281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59281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59281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59281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59281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59281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59281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59280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59280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320654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320654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320654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320654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320654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320654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320654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320654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320653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320653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E2DC0-ABDF-6183-ACD0-8E1C8E1767A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640C9B6F-26ED-9D47-F62D-E3754B10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894287" cy="1139380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27609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25256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25256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25256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25256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25256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25256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25256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25255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25255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25255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286629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286629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286629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286629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286629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286629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286629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286628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286628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286628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5178C-B86E-AEDB-DA1F-62912F00E49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21FFD5AF-9347-E023-8F48-F2A5F2D55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5" cy="907148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411761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110DB-742A-FE41-0D19-5B9A89E4933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7C692E60-92AB-4CC5-88C2-0ADD690532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46920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4BB64-7FB6-6BEB-8963-A8717DFEE05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20">
            <a:extLst>
              <a:ext uri="{FF2B5EF4-FFF2-40B4-BE49-F238E27FC236}">
                <a16:creationId xmlns:a16="http://schemas.microsoft.com/office/drawing/2014/main" id="{6E8C1B26-8B16-9397-C79B-6038D2A3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22792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E1B7-C33C-2EAC-72AA-5B015F51CE2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2FB07D22-2834-B625-FAA3-A0FE5FAA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38613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DA867-D362-D4CF-1642-427FF10B199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7376418-89A5-7BC8-FCDF-B38385F02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5478813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0E65F-87A1-5A3E-6BE0-76A1512C9B0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378D40AB-A931-1416-DC62-4D8326738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057152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57900-4533-56B4-442C-C09C8C9F16E4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595EB55-53F9-8C93-C36A-BA53CB4CA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072952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CCEE6-1612-93C6-32D4-408A43EAC46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BEA30514-F4B7-F118-D2A6-12448DFCC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40626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F29AB-E90C-35E5-C314-CBAD0251E7CA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00449A00-754D-EE0E-07D3-48EB1CD0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7986265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Simple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044B2B2-183F-DA2E-AE51-E9D5286F338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442060"/>
            <a:ext cx="2897704" cy="420599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8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EF0DFD7-2592-C986-4BDD-21849441F21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1293237"/>
            <a:ext cx="3382048" cy="30661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34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8435"/>
            <a:ext cx="8229600" cy="32643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47BBE-33F2-96B2-D2F7-6564EA826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CACA-C06A-412A-AB55-4BD6CBF84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2" r:id="rId2"/>
    <p:sldLayoutId id="2147483734" r:id="rId3"/>
    <p:sldLayoutId id="2147483727" r:id="rId4"/>
    <p:sldLayoutId id="2147483736" r:id="rId5"/>
    <p:sldLayoutId id="2147483737" r:id="rId6"/>
    <p:sldLayoutId id="2147483745" r:id="rId7"/>
    <p:sldLayoutId id="2147483654" r:id="rId8"/>
    <p:sldLayoutId id="2147483795" r:id="rId9"/>
    <p:sldLayoutId id="2147483743" r:id="rId10"/>
    <p:sldLayoutId id="2147483707" r:id="rId11"/>
    <p:sldLayoutId id="2147483653" r:id="rId12"/>
    <p:sldLayoutId id="2147483667" r:id="rId13"/>
    <p:sldLayoutId id="2147483669" r:id="rId14"/>
    <p:sldLayoutId id="2147483666" r:id="rId15"/>
    <p:sldLayoutId id="2147483749" r:id="rId16"/>
    <p:sldLayoutId id="2147483676" r:id="rId17"/>
    <p:sldLayoutId id="2147483678" r:id="rId18"/>
    <p:sldLayoutId id="2147483680" r:id="rId19"/>
    <p:sldLayoutId id="2147483717" r:id="rId20"/>
    <p:sldLayoutId id="2147483657" r:id="rId21"/>
    <p:sldLayoutId id="2147483738" r:id="rId22"/>
    <p:sldLayoutId id="214748374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6" r:id="rId66"/>
    <p:sldLayoutId id="2147483793" r:id="rId67"/>
    <p:sldLayoutId id="2147483797" r:id="rId68"/>
  </p:sldLayoutIdLst>
  <p:hf hdr="0" dt="0"/>
  <p:txStyles>
    <p:titleStyle>
      <a:lvl1pPr marL="0" algn="ctr" defTabSz="457200" rtl="0" eaLnBrk="1" latinLnBrk="0" hangingPunct="1">
        <a:lnSpc>
          <a:spcPct val="85000"/>
        </a:lnSpc>
        <a:spcBef>
          <a:spcPts val="0"/>
        </a:spcBef>
        <a:buNone/>
        <a:defRPr sz="2400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19456" indent="-219456" algn="l" defTabSz="457200" rtl="0" eaLnBrk="1" latinLnBrk="0" hangingPunct="1"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208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◦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77240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33272" indent="-164592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»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88720" indent="-100584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∙"/>
        <a:tabLst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 research inventory of microtransit and demand-response transit across the United States</a:t>
            </a:r>
          </a:p>
          <a:p>
            <a:r>
              <a:t>Project summary · September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On-Demand Transit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inventory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2651760" cy="17830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4000" b="1" i="0">
                <a:solidFill>
                  <a:srgbClr val="003A69"/>
                </a:solidFill>
                <a:latin typeface="Arial"/>
              </a:rPr>
              <a:t>665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1F1F1F"/>
                </a:solidFill>
                <a:latin typeface="Arial"/>
              </a:rPr>
              <a:t>systems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General-public services with a genuine same-day booking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143000"/>
            <a:ext cx="2651760" cy="17830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4000" b="1" i="0">
                <a:solidFill>
                  <a:srgbClr val="0075BB"/>
                </a:solidFill>
                <a:latin typeface="Arial"/>
              </a:rPr>
              <a:t>50 + DC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1F1F1F"/>
                </a:solidFill>
                <a:latin typeface="Arial"/>
              </a:rPr>
              <a:t>states covered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Every state has at least one row; California has the most at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143000"/>
            <a:ext cx="2651760" cy="17830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4000" b="1" i="0">
                <a:solidFill>
                  <a:srgbClr val="DB9728"/>
                </a:solidFill>
                <a:latin typeface="Arial"/>
              </a:rPr>
              <a:t>20</a:t>
            </a:r>
          </a:p>
          <a:p>
            <a:pPr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1F1F1F"/>
                </a:solidFill>
                <a:latin typeface="Arial"/>
              </a:rPr>
              <a:t>fields per system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Operator, vendor, booking, fare, hours, fleet, funding, status,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1A584D"/>
                </a:solidFill>
                <a:latin typeface="Arial"/>
              </a:rPr>
              <a:t>400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Microtransit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0075BB"/>
                </a:solidFill>
                <a:latin typeface="Arial"/>
              </a:rPr>
              <a:t>265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Demand-Response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872C15"/>
                </a:solidFill>
                <a:latin typeface="Arial"/>
              </a:rPr>
              <a:t>659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Service-area polygons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310896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819E7E"/>
                </a:solidFill>
                <a:latin typeface="Arial"/>
              </a:rPr>
              <a:t>1,063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Logged data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6E6E6E"/>
                </a:solidFill>
                <a:latin typeface="Arial"/>
              </a:rPr>
              <a:t>Counts as of the 17 September 2026 build. "Logged decisions" are entries in concerns.csv, the project's change and caveat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marL="0" indent="0">
              <a:spcAft>
                <a:spcPts val="100"/>
              </a:spcAft>
              <a:buNone/>
            </a:pPr>
            <a:r>
              <a:rPr sz="1250" b="1" i="0">
                <a:solidFill>
                  <a:srgbClr val="003A69"/>
                </a:solidFill>
                <a:latin typeface="Arial"/>
              </a:rPr>
              <a:t>Geographic context</a:t>
            </a:r>
          </a:p>
          <a:p>
            <a:pPr marL="0" indent="0">
              <a:spcAft>
                <a:spcPts val="9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Urban, Suburban, Rural or Mixed, assigned from the primary service area's land use and Census urbanized-area status.</a:t>
            </a:r>
          </a:p>
          <a:p>
            <a:pPr marL="0" indent="0">
              <a:spcAft>
                <a:spcPts val="100"/>
              </a:spcAft>
              <a:buNone/>
            </a:pPr>
            <a:r>
              <a:rPr sz="1250" b="1" i="0">
                <a:solidFill>
                  <a:srgbClr val="003A69"/>
                </a:solidFill>
                <a:latin typeface="Arial"/>
              </a:rPr>
              <a:t>Status</a:t>
            </a:r>
          </a:p>
          <a:p>
            <a:pPr marL="0" indent="0">
              <a:spcAft>
                <a:spcPts val="9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Active (plus New, Expanding and Post-Pilot variants), Pilot, or Pilot – Ended. Ended pilots stay in the inventory for the record.</a:t>
            </a:r>
          </a:p>
          <a:p>
            <a:pPr marL="0" indent="0">
              <a:spcAft>
                <a:spcPts val="100"/>
              </a:spcAft>
              <a:buNone/>
            </a:pPr>
            <a:r>
              <a:rPr sz="1250" b="1" i="0">
                <a:solidFill>
                  <a:srgbClr val="003A69"/>
                </a:solidFill>
                <a:latin typeface="Arial"/>
              </a:rPr>
              <a:t>Technology vendor</a:t>
            </a:r>
          </a:p>
          <a:p>
            <a:pPr marL="0" indent="0">
              <a:spcAft>
                <a:spcPts val="9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The dispatch and rider-app platform (Via, RideCo, Spare and others), distinct from the operator that runs vehicles and the agency that funds them.</a:t>
            </a:r>
          </a:p>
          <a:p>
            <a:pPr marL="0" indent="0">
              <a:spcAft>
                <a:spcPts val="100"/>
              </a:spcAft>
              <a:buNone/>
            </a:pPr>
            <a:r>
              <a:rPr sz="1250" b="1" i="0">
                <a:solidFill>
                  <a:srgbClr val="003A69"/>
                </a:solidFill>
                <a:latin typeface="Arial"/>
              </a:rPr>
              <a:t>Scheduling window</a:t>
            </a:r>
          </a:p>
          <a:p>
            <a:pPr marL="0" indent="0">
              <a:spcAft>
                <a:spcPts val="9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Same-day, Flexible, or Advance. "Advance" means a day-ahead call is the norm but same-day is still honored; systems with no same-day path are out of scope.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 marL="0" indent="0">
              <a:spcAft>
                <a:spcPts val="200"/>
              </a:spcAft>
              <a:buNone/>
            </a:pPr>
            <a:r>
              <a:rPr sz="1400" b="1" i="0">
                <a:solidFill>
                  <a:srgbClr val="1A584D"/>
                </a:solidFill>
                <a:latin typeface="Arial"/>
              </a:rPr>
              <a:t>Microtransit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150" b="0" i="0">
                <a:solidFill>
                  <a:srgbClr val="4A4A4A"/>
                </a:solidFill>
                <a:latin typeface="Arial"/>
              </a:rPr>
              <a:t>Rides are booked same-day with no fixed route or schedule. Software routes vehicles in real time to pool passengers; pickup is typically within 15–30 minutes. Synonymous with "on-demand transit" in this database.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400" b="1" i="0">
                <a:solidFill>
                  <a:srgbClr val="0075BB"/>
                </a:solidFill>
                <a:latin typeface="Arial"/>
              </a:rPr>
              <a:t>Demand-Response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150" b="0" i="0">
                <a:solidFill>
                  <a:srgbClr val="4A4A4A"/>
                </a:solidFill>
                <a:latin typeface="Arial"/>
              </a:rPr>
              <a:t>Rides are usually scheduled ahead, often by phone, but a same-day request is a real, routinely honored option. Common in rural dial-a-ride programs. Open to the general public.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1">
                <a:solidFill>
                  <a:srgbClr val="6E6E6E"/>
                </a:solidFill>
                <a:latin typeface="Arial"/>
              </a:rPr>
              <a:t>The typology is about booking model, not vehicle size or branding.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003A69"/>
                </a:solidFill>
                <a:latin typeface="Arial"/>
              </a:rPr>
              <a:t>One test decides scope: can a rider book and ride today?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822960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Same-day app or phone booking with no fixed schedule, even with a short same-day lead time (e.g. two hours). Advance booking may be preferred or the norm.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No same-day option at all: booking required by a cutoff on a day before the trip ("by 4pm the day before", "24-hour advance", "next-day only").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Open to the general public, even if seniors or riders with disabilities are prioritized.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Paratransit restricted to eligibility-certified riders (ADA, senior or disability certification required).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Publicly accessible services, even if privately sponsored.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Employer, apartment, campus-only or closed-loop shuttles.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Planned or pilot services with a confirmed vendor and funding.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1F1F1F"/>
                          </a:solidFill>
                          <a:latin typeface="Arial"/>
                        </a:rPr>
                        <a:t>Services that have permanently ceased operations.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050" b="0" i="0">
                <a:solidFill>
                  <a:srgbClr val="4A4A4A"/>
                </a:solidFill>
                <a:latin typeface="Arial"/>
              </a:rPr>
              <a:t>Two scope rulings reshaped the inventory: retiring paratransit as a type (July 2026, 170 rows removed) and clarifying the same-day test (August 2026, 215 rows removed after a source check of every advance-booking row).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517904" cy="5486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51790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54864" rIns="54864" bIns="36576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6E6E6E"/>
                </a:solidFill>
                <a:latin typeface="Arial"/>
              </a:rPr>
              <a:t>JUNE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1F1F1F"/>
                </a:solidFill>
                <a:latin typeface="Arial"/>
              </a:rPr>
              <a:t>Seed inventory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241 systems in 24 states from an existing spreadsheet plus supplemental California and Colorado lists. North Carolina service areas mapped by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66543" y="1097280"/>
            <a:ext cx="1517904" cy="54864"/>
          </a:xfrm>
          <a:prstGeom prst="rect">
            <a:avLst/>
          </a:prstGeom>
          <a:solidFill>
            <a:srgbClr val="00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66543" y="1188720"/>
            <a:ext cx="151790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54864" rIns="54864" bIns="36576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0075BB"/>
                </a:solidFill>
                <a:latin typeface="Arial"/>
              </a:rPr>
              <a:t>JULY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1F1F1F"/>
                </a:solidFill>
                <a:latin typeface="Arial"/>
              </a:rPr>
              <a:t>Expand to 50 states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Nine research batches covered the 27 uncovered states, then a high-recall deep sweep of every state in three waves, reading state DOT provider rosters against the CSV.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75887" y="1097280"/>
            <a:ext cx="1517904" cy="54864"/>
          </a:xfrm>
          <a:prstGeom prst="rect">
            <a:avLst/>
          </a:prstGeom>
          <a:solidFill>
            <a:srgbClr val="D5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188720"/>
            <a:ext cx="151790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54864" rIns="54864" bIns="36576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D57C5C"/>
                </a:solidFill>
                <a:latin typeface="Arial"/>
              </a:rPr>
              <a:t>JULY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1F1F1F"/>
                </a:solidFill>
                <a:latin typeface="Arial"/>
              </a:rPr>
              <a:t>Retire paratransit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170 eligibility-restricted rows removed after a keyword classifier plus row-by-row checks. Scope narrowed to general-public service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85231" y="1097280"/>
            <a:ext cx="1517904" cy="54864"/>
          </a:xfrm>
          <a:prstGeom prst="rect">
            <a:avLst/>
          </a:prstGeom>
          <a:solidFill>
            <a:srgbClr val="DB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85231" y="1188720"/>
            <a:ext cx="151790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54864" rIns="54864" bIns="36576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DB9728"/>
                </a:solidFill>
                <a:latin typeface="Arial"/>
              </a:rPr>
              <a:t>AUGUST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1F1F1F"/>
                </a:solidFill>
                <a:latin typeface="Arial"/>
              </a:rPr>
              <a:t>Same-day sweep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Every advance-booking row re-checked against a primary source in 17 parallel state batches: 215 removed, about 40 corrected and kept, 64 flagged for a phone call.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94575" y="1097280"/>
            <a:ext cx="1517904" cy="54864"/>
          </a:xfrm>
          <a:prstGeom prst="rect">
            <a:avLst/>
          </a:prstGeom>
          <a:solidFill>
            <a:srgbClr val="1A5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5" y="1188720"/>
            <a:ext cx="1517904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tIns="54864" rIns="54864" bIns="36576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850" b="1" i="0">
                <a:solidFill>
                  <a:srgbClr val="1A584D"/>
                </a:solidFill>
                <a:latin typeface="Arial"/>
              </a:rPr>
              <a:t>SEPTEMBER 2026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50" b="1" i="0">
                <a:solidFill>
                  <a:srgbClr val="1F1F1F"/>
                </a:solidFill>
                <a:latin typeface="Arial"/>
              </a:rPr>
              <a:t>Service-area boundaries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Polygons for 659 of 665 systems in 12 staged batches; nine replaced with agencies' own GTFS-Flex geofences.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ctr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300" b="1" i="0">
                <a:solidFill>
                  <a:srgbClr val="1F1F1F"/>
                </a:solidFill>
                <a:latin typeface="Arial"/>
              </a:rPr>
              <a:t>Row count over time   </a:t>
            </a:r>
            <a:r>
              <a:rPr sz="1300" b="0" i="0">
                <a:solidFill>
                  <a:srgbClr val="4A4A4A"/>
                </a:solidFill>
                <a:latin typeface="Arial"/>
              </a:rPr>
              <a:t>241 → 394 → 597 → 724 → 880 → </a:t>
            </a:r>
            <a:r>
              <a:rPr sz="1300" b="1" i="0">
                <a:solidFill>
                  <a:srgbClr val="1F1F1F"/>
                </a:solidFill>
                <a:latin typeface="Arial"/>
              </a:rPr>
              <a:t>665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6E6E6E"/>
                </a:solidFill>
                <a:latin typeface="Arial"/>
              </a:rPr>
              <a:t>The count peaks before each scope pass; the final number is smaller than the peak because the rules tightened.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system gets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83664" cy="214884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2600" b="1" i="0">
                <a:solidFill>
                  <a:srgbClr val="0075BB"/>
                </a:solidFill>
                <a:latin typeface="Arial"/>
              </a:rPr>
              <a:t>1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1F1F1F"/>
                </a:solidFill>
                <a:latin typeface="Arial"/>
              </a:rPr>
              <a:t>Discover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Read what the CSV already has for a state, then search state DOT §5311 and §5310 provider rosters, NTD profiles and news for what is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3744" y="1097280"/>
            <a:ext cx="1883664" cy="214884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2600" b="1" i="0">
                <a:solidFill>
                  <a:srgbClr val="0075BB"/>
                </a:solidFill>
                <a:latin typeface="Arial"/>
              </a:rPr>
              <a:t>2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1F1F1F"/>
                </a:solidFill>
                <a:latin typeface="Arial"/>
              </a:rPr>
              <a:t>Verify against a primary source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Agency or operator page first. A row's own notes are never trusted for a scope call; bulk-imported text has been wrong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0288" y="1097280"/>
            <a:ext cx="1883664" cy="214884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2600" b="1" i="0">
                <a:solidFill>
                  <a:srgbClr val="0075BB"/>
                </a:solidFill>
                <a:latin typeface="Arial"/>
              </a:rPr>
              <a:t>3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1F1F1F"/>
                </a:solidFill>
                <a:latin typeface="Arial"/>
              </a:rPr>
              <a:t>Log every decision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Each add, removal, correction and unverified field gets a concerns.csv entry with a citation. Nothing is fixed silently.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6832" y="1097280"/>
            <a:ext cx="1883664" cy="214884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2600" b="1" i="0">
                <a:solidFill>
                  <a:srgbClr val="0075BB"/>
                </a:solidFill>
                <a:latin typeface="Arial"/>
              </a:rPr>
              <a:t>4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1F1F1F"/>
                </a:solidFill>
                <a:latin typeface="Arial"/>
              </a:rPr>
              <a:t>Build and publish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A build script validates the CSV, derives clean categories from free text, and writes the JSON the dashboard reads. Push to GitHub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872C15"/>
                </a:solidFill>
                <a:latin typeface="Arial"/>
              </a:rPr>
              <a:t>Verify before removal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A row leaves only after a primary source confirms it fails a rule. Rows where no source states a policy are kept and flagged, not removed on a guess.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4290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872C15"/>
                </a:solidFill>
                <a:latin typeface="Arial"/>
              </a:rPr>
              <a:t>Integrity check after every sweep</a:t>
            </a:r>
          </a:p>
          <a:p>
            <a:pPr marL="0" indent="0">
              <a:spcAft>
                <a:spcPts val="4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Every logged removal is cross-referenced against the live CSV. This caught two research batches whose results were read but never applied.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consulted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8229600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657600"/>
                <a:gridCol w="2560320"/>
              </a:tblGrid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Source type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Examples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What it gave us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Agency and operator websites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City, county, transit-agency and tribal pages; rider handbooks; Via/RideCo/Spare-branded booking pages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Primary source for scope calls, booking method, hours, fares, status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State DOT program documents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Virginia DRPT rural microtransit toolkit; MDOT ConnectMS regional map; state §5311/§5310 provider rosters; WI Legislative Fiscal Bureau paper 43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Best structured data on fleets and service areas; discovery of rural systems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Federal Transit Administration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National Transit Database agency profiles; AIM and IMI grant announcements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Confirms general-public rural status, vehicles in service, funding; grants rarely give specs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Press and vendor releases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Local news, agency press releases, vendor case studies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Launch dates, pilot outcomes, vendor identity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Open transit data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Mobility Database GTFS catalog; Trillium-hosted GTFS-Flex feeds (locations.geojson)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Nine agency-published service-area geofences; booking-rule cross-checks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Census Bureau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TIGER/Line cartographic boundary files, 2023, 1:500k (places, county subdivisions, counties, AIANNH areas)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Proxy polygons for 650 systems; urbanized-area context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Secondary signals, used with caution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App-store package names (e.g. com.ridewithvia...), Wikipedia, cached snapshots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Vendor inference, flagged as unconfirmed in the log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000" b="0" i="1">
                <a:solidFill>
                  <a:srgbClr val="6E6E6E"/>
                </a:solidFill>
                <a:latin typeface="Arial"/>
              </a:rPr>
              <a:t>Rule of thumb learned early: a state DOT evaluation document beats ten press releases for structured fields.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4A4A4A"/>
                </a:solidFill>
                <a:latin typeface="Arial"/>
              </a:rPr>
              <a:t>Claude Code sessions ran the repetitive research in parallel batches and drafted candidate rows and boundary specs; every scope rule and every borderline call stayed with a person, and every agent action left a logged, reversible trail.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What agents did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State-by-state discovery sweeps in parallel batches (up to 17 at once), each returning candidate rows with citations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Source re-checks of every advance-booking row during the same-day sweep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Drafting a boundary spec per system, then auditing and researching flagged ones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Matching all 665 rows against GTFS feed catalogs and inspecting feed 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What stayed with a human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Every scope ruling: the same-day test, paratransit retirement, tribal-community services as general public, TNC fare-subsidy programs as systems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Borderline rows, one at a time rather than in batches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North Carolina boundaries, drawn by hand, and review of low-confidence proxies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Deciding when a sweep is done: small stages, one commit per stage, re-audit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Guardrails and lessons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Agents never remove a row on the row's own text; a primary source must confirm the failure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Every agent-added row carries a Data Gap entry listing the fields it could not confirm</a:t>
            </a:r>
          </a:p>
          <a:p>
            <a:pPr marL="164592" indent="-164592">
              <a:spcAft>
                <a:spcPts val="300"/>
              </a:spcAft>
              <a:buChar char="•"/>
            </a:pPr>
            <a:r>
              <a:rPr sz="950" b="0" i="0">
                <a:solidFill>
                  <a:srgbClr val="4A4A4A"/>
                </a:solidFill>
                <a:latin typeface="Arial"/>
              </a:rPr>
              <a:t>A name-matched GTFS feed is not enough: five geofences were rejected because they belonged to a paratransit route on the same feed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AI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Service-area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3931920" cy="361188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050" b="0" i="0">
                <a:solidFill>
                  <a:srgbClr val="4A4A4A"/>
                </a:solidFill>
                <a:latin typeface="Arial"/>
              </a:rPr>
              <a:t>Almost no agency publishes a downloadable service area, so each polygon is built from the best available geography, and its popup says what it was built from and whether it is exact or approximate.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00" b="1" i="0">
                <a:solidFill>
                  <a:srgbClr val="003A69"/>
                </a:solidFill>
                <a:latin typeface="Arial"/>
              </a:rPr>
              <a:t>Sources, in order of preference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1.  The agency's own GTFS-Flex geofence, where one exists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2.  Census cartographic boundaries matched to the described area: city, town, county, tribal land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3.  Charlotte neighborhood areas and Census tracts for a few NC zones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4.  A circle of the agency-stated size when only a size is published</a:t>
            </a:r>
          </a:p>
          <a:p>
            <a:pPr marL="0" indent="0">
              <a:spcAft>
                <a:spcPts val="0"/>
              </a:spcAft>
              <a:buNone/>
            </a:pPr>
            <a:r>
              <a:rPr sz="950" b="0" i="0">
                <a:solidFill>
                  <a:srgbClr val="6E6E6E"/>
                </a:solidFill>
                <a:latin typeface="Arial"/>
              </a:rPr>
              <a:t>Every choice is recorded in a per-state spec file, so the GeoJSON regenerates deterministically. Six multi-zone systems still have no polygon because their zones are named only by neighborhood.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051560"/>
          <a:ext cx="4023360" cy="29626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00584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Boundary type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Systems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Agency GTFS-Flex geofence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City limits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County / multi-county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Town boundaries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Tribal land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Municipality + stated radius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Moderate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Neighborhoods / tracts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Moderate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Stated-size circle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r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63440" y="411480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850" b="0" i="0">
                <a:solidFill>
                  <a:srgbClr val="6E6E6E"/>
                </a:solidFill>
                <a:latin typeface="Arial"/>
              </a:rPr>
              <a:t>Census TIGER/Line cartographic boundary files, 2023 vintage, 1:500k. Counts from the 17 September 2026 build.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gaps by field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005840"/>
          <a:ext cx="51206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0" y="1051560"/>
            <a:ext cx="3017520" cy="160020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50" b="1" i="0">
                <a:solidFill>
                  <a:srgbClr val="003A69"/>
                </a:solidFill>
                <a:latin typeface="Arial"/>
              </a:rPr>
              <a:t>Why the gaps skew rural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Legacy dial-a-ride programs rarely publish a launch date, vendor or fleet. Missing values cluster in Demand-Response rows: 192 of 265 have no launch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788920"/>
            <a:ext cx="3017520" cy="160020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150" b="1" i="0">
                <a:solidFill>
                  <a:srgbClr val="003A69"/>
                </a:solidFill>
                <a:latin typeface="Arial"/>
              </a:rPr>
              <a:t>Read the charts accordingly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Propulsion and accessibility charts count text mentions, not fleet audits. "Not mentioned" is a gap in the source, not evidence of absence.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850" b="0" i="0">
                <a:solidFill>
                  <a:srgbClr val="6E6E6E"/>
                </a:solidFill>
                <a:latin typeface="Arial"/>
              </a:rPr>
              <a:t>Share of 665 systems with a value other than "Not specified", 17 September 2026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872C15"/>
                </a:solidFill>
                <a:latin typeface="Arial"/>
              </a:rPr>
              <a:t>Scheduling policy unconfirmed for 64 rows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No web source states whether same-day is honored. Kept in scope and logged; each needs a phone call, not another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872C15"/>
                </a:solidFill>
                <a:latin typeface="Arial"/>
              </a:rPr>
              <a:t>Supplemental CA/CO vendor field is unreliable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Four of four "Via" labels checked were wrong. Vendors on those rows are unverified unless independently confirmed.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DB9728"/>
                </a:solidFill>
                <a:latin typeface="Arial"/>
              </a:rPr>
              <a:t>Coordinates are centroids, not zone centers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Many pins sit on a city hall or county seat. Fine nationally; the polygon, where present, is the better guide when zoomed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24028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DB9728"/>
                </a:solidFill>
                <a:latin typeface="Arial"/>
              </a:rPr>
              <a:t>Multi-zone systems lack polygons or show one zone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Six large systems (e.g. MARTA Reach, LA Metro Micro) have no polygon; a few GTFS-Flex geofences cover only the zones the feed includes.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6E6E6E"/>
                </a:solidFill>
                <a:latin typeface="Arial"/>
              </a:rPr>
              <a:t>Two vendor conflicts unresolved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Rows where an official site and a vendor press release disagree (e.g. RTS On Demand) show as "Not specified" until resolved.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429000"/>
            <a:ext cx="4023360" cy="109728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6E6E6E"/>
                </a:solidFill>
                <a:latin typeface="Arial"/>
              </a:rPr>
              <a:t>Discovery sources not yet exhausted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FTA AIM/IMI award lists and NCDOT program documents are unchecked; Texas TNC fare-subsidy programs are ruled in scope but not yet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850" b="0" i="0">
                <a:solidFill>
                  <a:srgbClr val="6E6E6E"/>
                </a:solidFill>
                <a:latin typeface="Arial"/>
              </a:rPr>
              <a:t>All items are tracked in concerns.csv and NOTES.md in the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8229600" cy="33649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5212080"/>
              </a:tblGrid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Ruling applied</a:t>
                      </a:r>
                    </a:p>
                  </a:txBody>
                  <a:tcPr marL="73152" marR="73152" marT="36576" marB="36576" anchor="t">
                    <a:solidFill>
                      <a:srgbClr val="003A6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Is "advance preferred" the same as "advance required"?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No. A system stays in if same-day is genuinely honored, even when a day-ahead call is encouraged or earns a discount.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Tribal transit open only to reservation residents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Counted as general public for that community, not as eligibility-restricted paratransit.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City subsidy on Uber or Lyft rides, no agency fleet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Counts as a system: the rider experience is same-day app booking funded by the public.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A pilot that has ended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Kept with status "Pilot – Ended" for the record; permanently discontinued regular services are removed.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One service operating in two states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Listed once per state (e.g. Advance Transit in NH and VT); do not double-count in national totals.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Messy free text in vendor, status and year fields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The build derives normalized categories for filters and charts; the researcher's original wording stays on each card.</a:t>
                      </a:r>
                    </a:p>
                  </a:txBody>
                  <a:tcPr marL="73152" marR="73152" marT="36576" marB="36576" anchor="t">
                    <a:solidFill>
                      <a:srgbClr val="F6F3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</a:rPr>
                        <a:t>A state with few or zero rows after a scope pass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>
                        <a:buNone/>
                      </a:pPr>
                      <a:r>
                        <a:rPr sz="1000" b="0" i="0">
                          <a:solidFill>
                            <a:srgbClr val="1F1F1F"/>
                          </a:solidFill>
                          <a:latin typeface="Arial"/>
                        </a:rPr>
                        <a:t>Treated as a genuine outcome, not forced back up; Alaska currently has none.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83664" cy="19659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500" b="1" i="0">
                <a:solidFill>
                  <a:srgbClr val="003A69"/>
                </a:solidFill>
                <a:latin typeface="Arial"/>
              </a:rPr>
              <a:t>Cards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Every system with its operator, vendor, fare and launch year; expand for booking, hours, funding, fleet and notes, then open full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3744" y="1097280"/>
            <a:ext cx="1883664" cy="19659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500" b="1" i="0">
                <a:solidFill>
                  <a:srgbClr val="003A69"/>
                </a:solidFill>
                <a:latin typeface="Arial"/>
              </a:rPr>
              <a:t>Map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Pins colored by geographic context, type, status, vendor or state; service-area polygons appear when a state is selected; a year slider animates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0288" y="1097280"/>
            <a:ext cx="1883664" cy="19659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500" b="1" i="0">
                <a:solidFill>
                  <a:srgbClr val="003A69"/>
                </a:solidFill>
                <a:latin typeface="Arial"/>
              </a:rPr>
              <a:t>Analytics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Growth over time, geography, fares, vendors, states, status, fleet propulsion, accessibility and fleet size, all recomputed for the current filter.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6832" y="1097280"/>
            <a:ext cx="1883664" cy="1965960"/>
          </a:xfrm>
          <a:prstGeom prst="rect">
            <a:avLst/>
          </a:prstGeom>
          <a:solidFill>
            <a:srgbClr val="F6F3F1"/>
          </a:solidFill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1500" b="1" i="0">
                <a:solidFill>
                  <a:srgbClr val="003A69"/>
                </a:solidFill>
                <a:latin typeface="Arial"/>
              </a:rPr>
              <a:t>Reference</a:t>
            </a:r>
          </a:p>
          <a:p>
            <a:pPr marL="0" indent="0">
              <a:spcAft>
                <a:spcPts val="400"/>
              </a:spcAft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Scope rules, field definitions, boundary sources and the data-quality history, so a reader can judge each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003A69"/>
          </a:solidFill>
          <a:ln>
            <a:noFill/>
          </a:ln>
        </p:spPr>
        <p:txBody>
          <a:bodyPr wrap="square" anchor="ctr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Filters  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Search · State · Type · Geographic context · Status · Vendor · Launch year. They apply to Cards, Map and Analytics at once, so "rural demand-response in Wisconsin launched before 2010" is three clicks.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91440" rIns="109728" bIns="9144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900" b="0" i="0">
                <a:solidFill>
                  <a:srgbClr val="6E6E6E"/>
                </a:solidFill>
                <a:latin typeface="Arial"/>
              </a:rPr>
              <a:t>Static site on GitHub Pages: jfish79.github.io/odt-dashboard. The CSV is the source of truth; a build script regenerates everything the page reads.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jfish79.github.io/odt-dashboard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57" sz="quarter"/>
          </p:nvPr>
        </p:nvSpPr>
        <p:spPr/>
        <p:txBody>
          <a:bodyPr wrap="square"/>
          <a:lstStyle/>
          <a:p>
            <a:pPr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Use it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Data is CC BY 4.0; code is MIT. Cite as "On-Demand Transit Database". Verify hours and fares with the agency before travel planning.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Improve it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Phone confirmation of the 64 unconfirmed scheduling policies; agency zone maps for the six unmapped systems; FTA award lists as a discovery source.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b="1" i="0">
                <a:solidFill>
                  <a:srgbClr val="003A69"/>
                </a:solidFill>
                <a:latin typeface="Arial"/>
              </a:rPr>
              <a:t>Correct it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Edit the CSV, log the reason in concerns.csv, run the build, push. Errors and omissions: contact the research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lr-presentation-template.potx" id="{5FD9E9F5-DDC0-4E41-A535-BCE6196F2EE8}" vid="{11811DC5-C04A-4CDF-89C8-1FFFF1B768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82f7b1-8364-4447-8e52-525c4c5c6261" xsi:nil="true"/>
    <lcf76f155ced4ddcb4097134ff3c332f xmlns="36a528ad-9b7f-43a7-930e-ee7404d5b59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D6BD0905FA4F8D7E240DF78D6720" ma:contentTypeVersion="16" ma:contentTypeDescription="Create a new document." ma:contentTypeScope="" ma:versionID="9579203ebe2f6644415a60f35511d7aa">
  <xsd:schema xmlns:xsd="http://www.w3.org/2001/XMLSchema" xmlns:xs="http://www.w3.org/2001/XMLSchema" xmlns:p="http://schemas.microsoft.com/office/2006/metadata/properties" xmlns:ns2="36a528ad-9b7f-43a7-930e-ee7404d5b59e" xmlns:ns3="7782f7b1-8364-4447-8e52-525c4c5c6261" targetNamespace="http://schemas.microsoft.com/office/2006/metadata/properties" ma:root="true" ma:fieldsID="555cabf9b2262d67248d99b9761da46e" ns2:_="" ns3:_="">
    <xsd:import namespace="36a528ad-9b7f-43a7-930e-ee7404d5b59e"/>
    <xsd:import namespace="7782f7b1-8364-4447-8e52-525c4c5c62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28ad-9b7f-43a7-930e-ee7404d5b5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834da80-57da-4863-8816-2e6886d1e8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2f7b1-8364-4447-8e52-525c4c5c626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0ac4acc-29c4-4207-ac0b-763f75a559ae}" ma:internalName="TaxCatchAll" ma:showField="CatchAllData" ma:web="7782f7b1-8364-4447-8e52-525c4c5c62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8BD344-6C98-486A-B4A8-58DE4D7C58C7}">
  <ds:schemaRefs>
    <ds:schemaRef ds:uri="http://schemas.microsoft.com/office/2006/metadata/properties"/>
    <ds:schemaRef ds:uri="36a528ad-9b7f-43a7-930e-ee7404d5b59e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7782f7b1-8364-4447-8e52-525c4c5c626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994FAD5-EBA2-458A-9ADC-074ADFE879F7}">
  <ds:schemaRefs>
    <ds:schemaRef ds:uri="36a528ad-9b7f-43a7-930e-ee7404d5b59e"/>
    <ds:schemaRef ds:uri="7782f7b1-8364-4447-8e52-525c4c5c6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21E120-7CDE-4D1D-A3AD-91354EA474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1359</Words>
  <Application>Microsoft Office PowerPoint</Application>
  <PresentationFormat>On-screen Show (16:9)</PresentationFormat>
  <Paragraphs>108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System Font Regular</vt:lpstr>
      <vt:lpstr>Times New Roman</vt:lpstr>
      <vt:lpstr>Office Theme</vt:lpstr>
      <vt:lpstr>Internal Audience Only</vt:lpstr>
      <vt:lpstr>How to: Update Templates</vt:lpstr>
      <vt:lpstr>Presentation Guidance</vt:lpstr>
      <vt:lpstr>Citations</vt:lpstr>
      <vt:lpstr>References</vt:lpstr>
      <vt:lpstr>Captions</vt:lpstr>
      <vt:lpstr>Image Compression</vt:lpstr>
      <vt:lpstr>Cover Slide Images</vt:lpstr>
      <vt:lpstr>Insert New Cover Slide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NLR Presentation Template</dc:title>
  <dc:subject>Use this presentation to effectively communicate the lab's impacts and capabilities.</dc:subject>
  <dc:creator>Skillern, Valerie</dc:creator>
  <cp:keywords/>
  <dc:description/>
  <cp:lastModifiedBy>Skillern, Valerie</cp:lastModifiedBy>
  <cp:revision>1</cp:revision>
  <cp:lastPrinted>2018-01-04T20:30:58Z</cp:lastPrinted>
  <dcterms:created xsi:type="dcterms:W3CDTF">2026-09-01T15:09:22Z</dcterms:created>
  <dcterms:modified xsi:type="dcterms:W3CDTF">2026-09-01T15:09:59Z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0x0101002F8AD6BD0905FA4F8D7E240DF78D6720</vt:lpwstr>
  </property>
  <property fmtid="{D5CDD505-2E9C-101B-9397-08002B2CF9AE}" pid="3" name="MediaServiceImageTags">
    <vt:lpwstr/>
  </property>
</Properties>
</file>